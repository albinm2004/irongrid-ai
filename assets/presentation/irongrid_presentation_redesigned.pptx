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943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RETRIEVAL-AUGMENTED GENERATION SYSTEM</a:t>
            </a:r>
          </a:p>
          <a:p>
            <a:pPr>
              <a:defRPr sz="5400" b="1">
                <a:solidFill>
                  <a:srgbClr val="0F172A"/>
                </a:solidFill>
                <a:latin typeface="Segoe UI"/>
              </a:defRPr>
            </a:pPr>
            <a:r>
              <a:t>IRONGRID AI</a:t>
            </a:r>
          </a:p>
          <a:p>
            <a:pPr>
              <a:spcBef>
                <a:spcPts val="800"/>
              </a:spcBef>
              <a:spcAft>
                <a:spcPts val="28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Intelligent, context-grounded virtual receptionist for premium fitness clubs.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1188720" cy="25603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3B82F6"/>
                </a:solidFill>
                <a:latin typeface="Segoe UI"/>
              </a:defRPr>
            </a:pPr>
            <a:r>
              <a:t>🐍 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114800"/>
            <a:ext cx="1188720" cy="25603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3B82F6"/>
                </a:solidFill>
                <a:latin typeface="Segoe UI"/>
              </a:defRPr>
            </a:pPr>
            <a:r>
              <a:t>⚡ Flask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4114800"/>
            <a:ext cx="1188720" cy="25603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3B82F6"/>
                </a:solidFill>
                <a:latin typeface="Segoe UI"/>
              </a:defRPr>
            </a:pPr>
            <a:r>
              <a:t>♊ Gemini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4114800"/>
            <a:ext cx="1188720" cy="25603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3B82F6"/>
                </a:solidFill>
                <a:latin typeface="Segoe UI"/>
              </a:defRPr>
            </a:pPr>
            <a:r>
              <a:t>🗄️ ChromaDB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4114800"/>
            <a:ext cx="1188720" cy="25603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950" b="1">
                <a:solidFill>
                  <a:srgbClr val="3B82F6"/>
                </a:solidFill>
                <a:latin typeface="Segoe UI"/>
              </a:defRPr>
            </a:pPr>
            <a:r>
              <a:t>🤖 RAG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005840"/>
            <a:ext cx="4297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0" y="1005840"/>
            <a:ext cx="4297680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 🟢 IRONGRID Assistant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828800"/>
            <a:ext cx="2834640" cy="6400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F172A"/>
                </a:solidFill>
                <a:latin typeface="Segoe UI"/>
              </a:defRPr>
            </a:pPr>
            <a:r>
              <a:t>What membership plans do you offer?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651760"/>
            <a:ext cx="39319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>
                <a:solidFill>
                  <a:srgbClr val="0F172A"/>
                </a:solidFill>
                <a:latin typeface="Segoe UI"/>
              </a:defRPr>
            </a:pPr>
            <a:r>
              <a:t>We offer three monthly membership tiers:</a:t>
            </a:r>
            <a:br/>
            <a:r>
              <a:t>• Basic: Rs 2,500/mo (Cardio &amp; Strength access)</a:t>
            </a:r>
            <a:br/>
            <a:r>
              <a:t>• Premium: Rs 4,500/mo (Adds group classes)</a:t>
            </a:r>
            <a:br/>
            <a:r>
              <a:t>• Elite: Rs 7,000/mo (Full access + personal coach)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389120"/>
            <a:ext cx="3931920" cy="54864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✓ Grounded context matching. Confidence: HIGH</a:t>
            </a:r>
            <a:br/>
            <a:r>
              <a:t>Source: [Membership &gt; Pricing Structures]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94A3B8"/>
                </a:solidFill>
              </a:rPr>
              <a:t>DEVELOPER: </a:t>
            </a:r>
            <a:r>
              <a:rPr sz="1050" b="1">
                <a:solidFill>
                  <a:srgbClr val="0F172A"/>
                </a:solidFill>
              </a:rPr>
              <a:t>Albin Mathew</a:t>
            </a:r>
            <a:r>
              <a:rPr sz="950" b="1">
                <a:solidFill>
                  <a:srgbClr val="94A3B8"/>
                </a:solidFill>
              </a:rPr>
              <a:t>    |    EVALUATION: </a:t>
            </a:r>
            <a:r>
              <a:rPr sz="1050" b="1">
                <a:solidFill>
                  <a:srgbClr val="0F172A"/>
                </a:solidFill>
              </a:rPr>
              <a:t>Final Year Engineering Project</a:t>
            </a:r>
            <a:r>
              <a:rPr sz="950" b="1">
                <a:solidFill>
                  <a:srgbClr val="94A3B8"/>
                </a:solidFill>
              </a:rPr>
              <a:t>    |    SUPERVISION: </a:t>
            </a:r>
            <a:r>
              <a:rPr sz="1050" b="1">
                <a:solidFill>
                  <a:srgbClr val="0F172A"/>
                </a:solidFill>
              </a:rPr>
              <a:t>Dept. of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371600" cy="21945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l">
              <a:defRPr sz="900" b="1">
                <a:solidFill>
                  <a:srgbClr val="3B82F6"/>
                </a:solidFill>
                <a:latin typeface="Segoe UI"/>
              </a:defRPr>
            </a:pPr>
            <a:r>
              <a:t>  IRONGRID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What is IRONGRID AI?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The modern conversational interface replacing repetitive front desk inquiries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Grounded Front-Desk Operations</a:t>
            </a:r>
          </a:p>
          <a:p>
            <a:pPr>
              <a:spcAft>
                <a:spcPts val="20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Designed to answer visitor queries regarding memberships, equipment, class schedules, and rules. Unlike generic LLM assistants, IRONGRID AI restricts its responses to facts pre-verified and indexed in its ChromaDB knowledge base.</a:t>
            </a:r>
          </a:p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✓  Eliminates front-desk phone queues and visitor wait times</a:t>
            </a:r>
          </a:p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✓  Enforces strict boundaries against medical/workout planning</a:t>
            </a:r>
          </a:p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✓  Sub-second response latencies with persistent indexing</a:t>
            </a:r>
          </a:p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✓  Contextual session memory tracking across 10 chat turns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737360"/>
            <a:ext cx="26517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0" y="1847088"/>
            <a:ext cx="36576" cy="17007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2" y="1847088"/>
            <a:ext cx="2423160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🔍 Semantic Indexing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Maps natural user queries into dense 384-dimensional arrays using SentenceTransformers.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1737360"/>
            <a:ext cx="26517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69680" y="1847088"/>
            <a:ext cx="36576" cy="170078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34272" y="1847088"/>
            <a:ext cx="2423160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🛡️ Strict Guardrails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System prompt constraints block off-topic chat or health advisory claims.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931920"/>
            <a:ext cx="26517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4041648"/>
            <a:ext cx="36576" cy="170078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4041648"/>
            <a:ext cx="2423160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⚙️ Robust Error Handling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Gracefully serves direct text templates automatically if external APIs fail.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3931920"/>
            <a:ext cx="26517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0" y="4041648"/>
            <a:ext cx="36576" cy="17007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34272" y="4041648"/>
            <a:ext cx="2423160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📊 Metadata Analytics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Surfaces confidence ratings and category labels along with responses.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371600" cy="21945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l">
              <a:defRPr sz="900" b="1">
                <a:solidFill>
                  <a:srgbClr val="3B82F6"/>
                </a:solidFill>
                <a:latin typeface="Segoe UI"/>
              </a:defRPr>
            </a:pPr>
            <a:r>
              <a:t>  IRONGRID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Existing reception structures are highly repetitive, cost-inefficient, and prone to lead leakage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10712" cy="20116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47088"/>
            <a:ext cx="36576" cy="179222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3182112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⏳ Staff Timing Overhead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Receptionists waste up to 40% of their workday answering basic FAQ calls regarding timings, fees, and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10712" cy="20116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47088"/>
            <a:ext cx="36576" cy="179222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847088"/>
            <a:ext cx="3182112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📉 High Lead Abandonment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Interested prospects bounce from signups when receptionists are busy handling check-ins or billing issues.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3410712" cy="20116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47088"/>
            <a:ext cx="36576" cy="179222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847088"/>
            <a:ext cx="3182112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🔒 Inflexible Static FAQs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Simple websites cannot handle personalized questions or follow-up membership tier queries.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3410712" cy="20116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133088"/>
            <a:ext cx="36576" cy="179222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133088"/>
            <a:ext cx="3182112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🌙 Off-Hours Lead Loss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Inquiries sent outside gym operating hours remain unanswered, resulting in direct signup drop-offs.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023360"/>
            <a:ext cx="3410712" cy="20116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4133088"/>
            <a:ext cx="36576" cy="179222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4133088"/>
            <a:ext cx="3182112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⚠️ Hallucinating AI Bots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Unconstrained chatbots guess specifications, hallucinate memberships, or make unverified promises.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4023360"/>
            <a:ext cx="3410712" cy="20116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4133088"/>
            <a:ext cx="36576" cy="179222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2" y="4133088"/>
            <a:ext cx="3182112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🧠 Context-Deaf Sessions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Standard chat boxes forget preceding statements instantly, forcing clients to repeat requirements.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371600" cy="21945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l">
              <a:defRPr sz="900" b="1">
                <a:solidFill>
                  <a:srgbClr val="3B82F6"/>
                </a:solidFill>
                <a:latin typeface="Segoe UI"/>
              </a:defRPr>
            </a:pPr>
            <a:r>
              <a:t>  IRONGRID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Four core pillars for automated reception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404872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38528"/>
            <a:ext cx="36576" cy="38953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38528"/>
            <a:ext cx="2176272" cy="3895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⚡ 01 / INSTANT ASSIST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Deliver gym rules, timings, and class schedules instantly with sub-second response times.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828800"/>
            <a:ext cx="2404872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938528"/>
            <a:ext cx="36576" cy="38953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938528"/>
            <a:ext cx="2176272" cy="3895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🎯 02 / ZERO HALLUCINATION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Constrain LLM response synthesis to verified local facts to prevent guess-work.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828800"/>
            <a:ext cx="2404872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938528"/>
            <a:ext cx="36576" cy="38953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1938528"/>
            <a:ext cx="2176272" cy="3895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💾 03 / CHROME STORAGE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Implement persistent local vector storage indices for immediate similarity calculations.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1828800"/>
            <a:ext cx="2404872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0" y="1938528"/>
            <a:ext cx="36576" cy="38953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51392" y="1938528"/>
            <a:ext cx="2176272" cy="3895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🔍 04 / METADATA AUDIT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Provide dynamic source categories and confidence values for transparency.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371600" cy="21945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l">
              <a:defRPr sz="900" b="1">
                <a:solidFill>
                  <a:srgbClr val="3B82F6"/>
                </a:solidFill>
                <a:latin typeface="Segoe UI"/>
              </a:defRPr>
            </a:pPr>
            <a:r>
              <a:t>  IRONGRID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Why RAG?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Comparison: Traditional LLM Memory vs. Retrieval-Augmented Generation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29768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600"/>
              </a:spcAft>
              <a:defRPr sz="1400" b="1">
                <a:solidFill>
                  <a:srgbClr val="EF4444"/>
                </a:solidFill>
                <a:latin typeface="Segoe UI"/>
              </a:defRPr>
            </a:pPr>
            <a:r>
              <a:t>❌ TRADITIONAL CHATBOTS (LLM Memory)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Knowledge: Static weights (cannot adapt to changes)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Hallucination Risk: High (invents pricing/rules)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Attribution: None (cannot prove information source)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Updates: Costly (requires fine-tuning / retraining)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Behavior Boundaries: Weak (prone to giving medical/workout tips)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120640" cy="429768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6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✅ IRONGRID AI (RAG Core)</a:t>
            </a:r>
          </a:p>
          <a:p>
            <a:pPr>
              <a:spcAft>
                <a:spcPts val="14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Knowledge: ChromaDB persistent vector index chunks</a:t>
            </a:r>
          </a:p>
          <a:p>
            <a:pPr>
              <a:spcAft>
                <a:spcPts val="14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Hallucination Risk: Guarded (locked to retrieved text context)</a:t>
            </a:r>
          </a:p>
          <a:p>
            <a:pPr>
              <a:spcAft>
                <a:spcPts val="14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Attribution: Explicit (returns subcategory tags &amp; relevance scores)</a:t>
            </a:r>
          </a:p>
          <a:p>
            <a:pPr>
              <a:spcAft>
                <a:spcPts val="14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Updates: Instant (simple JSON editing &amp; re-embedding)</a:t>
            </a:r>
          </a:p>
          <a:p>
            <a:pPr>
              <a:spcAft>
                <a:spcPts val="14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• Behavior Boundaries: Strong (restricted strictly to front-desk FAQs)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371600" cy="21945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l">
              <a:defRPr sz="900" b="1">
                <a:solidFill>
                  <a:srgbClr val="3B82F6"/>
                </a:solidFill>
                <a:latin typeface="Segoe UI"/>
              </a:defRPr>
            </a:pPr>
            <a:r>
              <a:t>  IRONGRID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Lightweight components integrated for production-level speed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94767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47088"/>
            <a:ext cx="36576" cy="170078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1719072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🐍 Python 3.13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Main logic execution layer and scripting runtime environment.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737360"/>
            <a:ext cx="194767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0" y="1847088"/>
            <a:ext cx="36576" cy="170078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1847088"/>
            <a:ext cx="1719072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⚡ Flask Backend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Python REST API router coordinating database retrieval &amp; generation.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737360"/>
            <a:ext cx="194767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0" y="1847088"/>
            <a:ext cx="36576" cy="17007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1847088"/>
            <a:ext cx="1719072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♊ Gemini 2.0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Grounded generative LLM API synthesizing natural visitor answers.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737360"/>
            <a:ext cx="194767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1847088"/>
            <a:ext cx="36576" cy="17007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9792" y="1847088"/>
            <a:ext cx="1719072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🗄️ ChromaDB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Vector database repository storing document embedding indices.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1737360"/>
            <a:ext cx="194767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1847088"/>
            <a:ext cx="36576" cy="17007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74352" y="1847088"/>
            <a:ext cx="1719072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🤖 MiniLM Model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SentenceTransformer for local 384-dimensional semantic embedding.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931920"/>
            <a:ext cx="194767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041648"/>
            <a:ext cx="36576" cy="170078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041648"/>
            <a:ext cx="1719072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🌐 HTML5 Interface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Client-side browser chat layout scaffolding and document structure.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3931920"/>
            <a:ext cx="194767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26080" y="4041648"/>
            <a:ext cx="36576" cy="170078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4041648"/>
            <a:ext cx="1719072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🎨 Premium CSS3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Modern user interface styling featuring slate-themed cards &amp; animations.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0640" y="3931920"/>
            <a:ext cx="194767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20640" y="4041648"/>
            <a:ext cx="36576" cy="170078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85232" y="4041648"/>
            <a:ext cx="1719072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⚙️ Vanilla JS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Handles HTTP payloads, history persistence, and chat updates.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0" y="3931920"/>
            <a:ext cx="194767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0" y="4041648"/>
            <a:ext cx="36576" cy="17007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79792" y="4041648"/>
            <a:ext cx="1719072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📄 JSON Database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Structured source index housing 225 pre-verified gym facts.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9760" y="3931920"/>
            <a:ext cx="194767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9760" y="4041648"/>
            <a:ext cx="36576" cy="170078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74352" y="4041648"/>
            <a:ext cx="1719072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💻 VS Code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IDE container utilized for building, testing, and debugging servers.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371600" cy="21945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l">
              <a:defRPr sz="900" b="1">
                <a:solidFill>
                  <a:srgbClr val="3B82F6"/>
                </a:solidFill>
                <a:latin typeface="Segoe UI"/>
              </a:defRPr>
            </a:pPr>
            <a:r>
              <a:t>  IRONGRID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End-to-end RAG data processing pipeline (Double-row horizontal flow)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947672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38528"/>
            <a:ext cx="36576" cy="14264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38528"/>
            <a:ext cx="1719072" cy="142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1. 👤 User Query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Visitor enters natural query (e.g. fee questions).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828800"/>
            <a:ext cx="1947672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0" y="1938528"/>
            <a:ext cx="36576" cy="14264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1938528"/>
            <a:ext cx="1719072" cy="142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2. 🖥️ Chat UI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JavaScript packages text and sends POST request.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28800"/>
            <a:ext cx="1947672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0" y="1938528"/>
            <a:ext cx="36576" cy="14264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1938528"/>
            <a:ext cx="1719072" cy="142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3. ⚡ Flask API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Receives payload at /api/chat backend endpoint.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828800"/>
            <a:ext cx="1947672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1938528"/>
            <a:ext cx="36576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9792" y="1938528"/>
            <a:ext cx="1719072" cy="142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4. 🤖 Embedder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SentenceTransformer maps text to 384-dim array.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1828800"/>
            <a:ext cx="1947672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1938528"/>
            <a:ext cx="36576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74352" y="1938528"/>
            <a:ext cx="1719072" cy="142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5. 🗄️ ChromaDB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Cosine similarity HNSW index search matches vectors.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89120"/>
            <a:ext cx="1947672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498848"/>
            <a:ext cx="36576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498848"/>
            <a:ext cx="1719072" cy="142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6. 🔍 Top-5 Retrieval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Extracts top 5 matching text chunks from database.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4389120"/>
            <a:ext cx="1947672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26080" y="4498848"/>
            <a:ext cx="36576" cy="14264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4498848"/>
            <a:ext cx="1719072" cy="142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7. 📄 Prompt Builder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Injects system rules, session history, and context.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0640" y="4389120"/>
            <a:ext cx="1947672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20640" y="4498848"/>
            <a:ext cx="36576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85232" y="4498848"/>
            <a:ext cx="1719072" cy="142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8. ♊ Gemini API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Sends context-grounded payload for synthesis.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0" y="4389120"/>
            <a:ext cx="1947672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0" y="4498848"/>
            <a:ext cx="36576" cy="14264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79792" y="4498848"/>
            <a:ext cx="1719072" cy="142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9. 🛡️ Grounded Resp.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Gemini builds natural text complying with facts.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9760" y="4389120"/>
            <a:ext cx="1947672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9760" y="4498848"/>
            <a:ext cx="36576" cy="14264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74352" y="4498848"/>
            <a:ext cx="1719072" cy="1426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10. 📈 UI Display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Browser displays reply + sources + confidence badge.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2679192" y="2560320"/>
            <a:ext cx="246888" cy="1828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ght Arrow 37"/>
          <p:cNvSpPr/>
          <p:nvPr/>
        </p:nvSpPr>
        <p:spPr>
          <a:xfrm>
            <a:off x="4873752" y="2560320"/>
            <a:ext cx="246888" cy="1828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ight Arrow 38"/>
          <p:cNvSpPr/>
          <p:nvPr/>
        </p:nvSpPr>
        <p:spPr>
          <a:xfrm>
            <a:off x="7068312" y="2560320"/>
            <a:ext cx="246888" cy="1828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ight Arrow 39"/>
          <p:cNvSpPr/>
          <p:nvPr/>
        </p:nvSpPr>
        <p:spPr>
          <a:xfrm>
            <a:off x="9262872" y="2560320"/>
            <a:ext cx="246888" cy="1828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own Arrow 40"/>
          <p:cNvSpPr/>
          <p:nvPr/>
        </p:nvSpPr>
        <p:spPr>
          <a:xfrm>
            <a:off x="10332720" y="3566160"/>
            <a:ext cx="274320" cy="73152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ight Arrow 41"/>
          <p:cNvSpPr/>
          <p:nvPr/>
        </p:nvSpPr>
        <p:spPr>
          <a:xfrm>
            <a:off x="2679192" y="5120640"/>
            <a:ext cx="246888" cy="1828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ight Arrow 42"/>
          <p:cNvSpPr/>
          <p:nvPr/>
        </p:nvSpPr>
        <p:spPr>
          <a:xfrm>
            <a:off x="4873752" y="5120640"/>
            <a:ext cx="246888" cy="1828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ight Arrow 43"/>
          <p:cNvSpPr/>
          <p:nvPr/>
        </p:nvSpPr>
        <p:spPr>
          <a:xfrm>
            <a:off x="7068312" y="5120640"/>
            <a:ext cx="246888" cy="1828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ight Arrow 44"/>
          <p:cNvSpPr/>
          <p:nvPr/>
        </p:nvSpPr>
        <p:spPr>
          <a:xfrm>
            <a:off x="9262872" y="5120640"/>
            <a:ext cx="246888" cy="1828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371600" cy="21945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l">
              <a:defRPr sz="900" b="1">
                <a:solidFill>
                  <a:srgbClr val="3B82F6"/>
                </a:solidFill>
                <a:latin typeface="Segoe UI"/>
              </a:defRPr>
            </a:pPr>
            <a:r>
              <a:t>  IRONGRID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Core features of the IRONGRID AI conversational virtual receptionist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240487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47088"/>
            <a:ext cx="36576" cy="17007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2176272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🔍 Semantic Matching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Calculates user sentence embeddings locally using optimized MiniLM matrices.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737360"/>
            <a:ext cx="240487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847088"/>
            <a:ext cx="36576" cy="170078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847088"/>
            <a:ext cx="2176272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♊ Contextual Synthesis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Gemini API constructs conversational answers using retrieved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737360"/>
            <a:ext cx="240487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847088"/>
            <a:ext cx="36576" cy="170078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1847088"/>
            <a:ext cx="2176272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🔖 Source Attribution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Surfaces source document tags and relevance ratings with every reply.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1737360"/>
            <a:ext cx="240487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0" y="1847088"/>
            <a:ext cx="36576" cy="17007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51392" y="1847088"/>
            <a:ext cx="2176272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🧠 Context Window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Session history mechanism retains details across 10 conversation turns.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31920"/>
            <a:ext cx="240487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041648"/>
            <a:ext cx="36576" cy="170078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041648"/>
            <a:ext cx="2176272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📈 Confidence Levels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Auto-classifies cosine similarity metrics into High/Med/Low badges.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3931920"/>
            <a:ext cx="240487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83280" y="4041648"/>
            <a:ext cx="36576" cy="17007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47872" y="4041648"/>
            <a:ext cx="2176272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💡 Follow-up Chips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Suggests 3 logical follow-up questions to guide visitor navigation.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3931920"/>
            <a:ext cx="240487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35040" y="4041648"/>
            <a:ext cx="36576" cy="17007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9632" y="4041648"/>
            <a:ext cx="2176272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⚙️ Robust Error Handling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Serves verified templates immediately from database if Gemini fails.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3931920"/>
            <a:ext cx="240487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0" y="4041648"/>
            <a:ext cx="36576" cy="170078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51392" y="4041648"/>
            <a:ext cx="2176272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📱 Premium Slate UI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Responsive design layout featuring typing indicators and active health checks.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371600" cy="21945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l">
              <a:defRPr sz="900" b="1">
                <a:solidFill>
                  <a:srgbClr val="3B82F6"/>
                </a:solidFill>
                <a:latin typeface="Segoe UI"/>
              </a:defRPr>
            </a:pPr>
            <a:r>
              <a:t>  IRONGRID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System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Sample query validation outputs and grounding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02920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0292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 🟢 Virtual Receptionist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2468880"/>
            <a:ext cx="3566160" cy="6400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F172A"/>
                </a:solidFill>
                <a:latin typeface="Segoe UI"/>
              </a:defRPr>
            </a:pPr>
            <a:r>
              <a:t>Can non-members register for yoga classes?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91840"/>
            <a:ext cx="46634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F172A"/>
                </a:solidFill>
                <a:latin typeface="Segoe UI"/>
              </a:defRPr>
            </a:pPr>
            <a:r>
              <a:t>Yes, non-members can attend yoga. A guest class pass costs Rs 500 per session. Bookings must be made in person at the front desk prior to class start. Bringing a member partner is not required.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937760"/>
            <a:ext cx="4663440" cy="54864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✓ Grounded context matching. Confidence: HIGH (0.88)</a:t>
            </a:r>
            <a:br/>
            <a:r>
              <a:t>Source: [Classes &gt; Yoga Registration]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47088"/>
            <a:ext cx="36576" cy="179222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847088"/>
            <a:ext cx="498348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🔍 Grounded Processing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Queries are transformed into vectors and compared against 225 chunks. Top 5 are injected into Gemini for context.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4041648"/>
            <a:ext cx="36576" cy="17922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4041648"/>
            <a:ext cx="498348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🛡️ Prompt Constraints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System instructions mandate that the chatbot only uses pre-loaded context, successfully blocking hallucinations and fitness advisory answers.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371600" cy="21945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l">
              <a:defRPr sz="900" b="1">
                <a:solidFill>
                  <a:srgbClr val="3B82F6"/>
                </a:solidFill>
                <a:latin typeface="Segoe UI"/>
              </a:defRPr>
            </a:pPr>
            <a:r>
              <a:t>  IRONGRID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Technical Challenges &amp;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Implementation workarounds resolving key runtime issues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39512" cy="19202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47088"/>
            <a:ext cx="36576" cy="170078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5010912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⚠️ LLM API Quota Exhaustion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Issue: External LLM API calls throw 429 exceptions under rapid inputs.</a:t>
            </a:r>
            <a:br/>
            <a:r>
              <a:t>Solution: Fallback immediately to serve direct raw text matches from database indices.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39512" cy="19202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041648"/>
            <a:ext cx="36576" cy="170078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041648"/>
            <a:ext cx="5010912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🛡️ Out-of-Bounds Queries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Issue: Clients ask for fitness templates or nutrition advice, risking liability.</a:t>
            </a:r>
            <a:br/>
            <a:r>
              <a:t>Solution: Strict prompt guidelines block response synthesis for off-topic queries.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5239512" cy="1920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47088"/>
            <a:ext cx="36576" cy="170078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847088"/>
            <a:ext cx="5010912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📁 Vector DB Path Resolution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Issue: SQLite/ChromaDB base paths break when deploying across local platforms.</a:t>
            </a:r>
            <a:br/>
            <a:r>
              <a:t>Solution: Standardized path strings parsed relative to script directory dynamically.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31920"/>
            <a:ext cx="5239512" cy="1920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4041648"/>
            <a:ext cx="36576" cy="170078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4041648"/>
            <a:ext cx="5010912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⏳ API Request Latency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Issue: API connection delays up to 90 seconds freeze client interaction pages.</a:t>
            </a:r>
            <a:br/>
            <a:r>
              <a:t>Solution: Configured short timeouts (3s) with early abort, shifting to fallback instantly.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371600" cy="21945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l">
              <a:defRPr sz="900" b="1">
                <a:solidFill>
                  <a:srgbClr val="3B82F6"/>
                </a:solidFill>
                <a:latin typeface="Segoe UI"/>
              </a:defRPr>
            </a:pPr>
            <a:r>
              <a:t>  IRONGRID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Results &amp; Achievements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Performance indicators of the IRONGRID AI RAG implementation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1947672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395728"/>
            <a:ext cx="36576" cy="27066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1673352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0B981"/>
                </a:solidFill>
                <a:latin typeface="Segoe UI"/>
              </a:defRPr>
            </a:pPr>
            <a:r>
              <a:t>225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Knowledge Chunks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Verified facts stored in the ChromaDB vector database index.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286000"/>
            <a:ext cx="1947672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0" y="2395728"/>
            <a:ext cx="36576" cy="270662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2468880"/>
            <a:ext cx="1673352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3B82F6"/>
                </a:solidFill>
                <a:latin typeface="Segoe UI"/>
              </a:defRPr>
            </a:pPr>
            <a:r>
              <a:t>10-Turn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Session Memory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History retention memory depth for tracking conversations.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286000"/>
            <a:ext cx="1947672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0" y="2395728"/>
            <a:ext cx="36576" cy="27066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2468880"/>
            <a:ext cx="1673352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0B981"/>
                </a:solidFill>
                <a:latin typeface="Segoe UI"/>
              </a:defRPr>
            </a:pPr>
            <a:r>
              <a:t>Top-5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Retrieval Context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Number of similarity matches fetched to ground the LLM prompt.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286000"/>
            <a:ext cx="1947672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2395728"/>
            <a:ext cx="36576" cy="270662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2468880"/>
            <a:ext cx="1673352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3B82F6"/>
                </a:solidFill>
                <a:latin typeface="Segoe UI"/>
              </a:defRPr>
            </a:pPr>
            <a:r>
              <a:t>Real-Time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Response Latency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Average API answer compilation latency of under 0.8 seconds.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2286000"/>
            <a:ext cx="1947672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2395728"/>
            <a:ext cx="36576" cy="27066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20" y="2468880"/>
            <a:ext cx="1673352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0B981"/>
                </a:solidFill>
                <a:latin typeface="Segoe UI"/>
              </a:defRPr>
            </a:pPr>
            <a:r>
              <a:t>Grounded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Zero Hallucination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Answers verified as strictly grounded inside system context.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371600" cy="21945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l">
              <a:defRPr sz="900" b="1">
                <a:solidFill>
                  <a:srgbClr val="3B82F6"/>
                </a:solidFill>
                <a:latin typeface="Segoe UI"/>
              </a:defRPr>
            </a:pPr>
            <a:r>
              <a:t>  IRONGRID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Roadmap features to expand the virtual receptionist assistant ecosystem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107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47088"/>
            <a:ext cx="36576" cy="179222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3182112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🎙️ Voice Assistant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Support hands-free voice inquiries using Speech-to-Text translation layers.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107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47088"/>
            <a:ext cx="36576" cy="179222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847088"/>
            <a:ext cx="3182112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🖥️ Admin Dashboard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Develop web portal enabling front-desk staff to edit knowledge base JSON files.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34107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47088"/>
            <a:ext cx="36576" cy="179222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847088"/>
            <a:ext cx="3182112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💬 WhatsApp / Telegram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Integrate RAG pipeline directly into messaging channels for omni-channel access.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34107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133088"/>
            <a:ext cx="36576" cy="17922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133088"/>
            <a:ext cx="3182112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☁️ Cloud Deployment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Deploy dockerized services on GCP or AWS infrastructure for load balancing.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023360"/>
            <a:ext cx="34107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4133088"/>
            <a:ext cx="36576" cy="17922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4133088"/>
            <a:ext cx="3182112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🌐 Multilingual Support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Implement translation models to process queries and output answers in local languages.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4023360"/>
            <a:ext cx="34107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4133088"/>
            <a:ext cx="36576" cy="17922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2" y="4133088"/>
            <a:ext cx="3182112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💳 Membership Booking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Provide direct payment integration links inside the chatbot window.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5313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6400" b="1">
                <a:solidFill>
                  <a:srgbClr val="0F172A"/>
                </a:solidFill>
                <a:latin typeface="Segoe UI"/>
              </a:defRPr>
            </a:pPr>
            <a:r>
              <a:t>THANK YOU</a:t>
            </a:r>
          </a:p>
          <a:p>
            <a:pPr algn="ctr">
              <a:spcAft>
                <a:spcPts val="2400"/>
              </a:spcAft>
              <a:defRPr sz="2000" b="1">
                <a:solidFill>
                  <a:srgbClr val="10B981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75504" y="2926080"/>
            <a:ext cx="18288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🤖</a:t>
            </a:r>
            <a:br/>
            <a:br/>
            <a:r>
              <a:t>Scan to View</a:t>
            </a:r>
            <a:br/>
            <a:r>
              <a:t>GitHub Repo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531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75569"/>
                </a:solidFill>
                <a:latin typeface="Segoe UI"/>
              </a:defRPr>
            </a:pPr>
            <a:r>
              <a:t>Email: albin.mathew@student.com   |   Repository: github.com/albinmathew2004/irongrid-rag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